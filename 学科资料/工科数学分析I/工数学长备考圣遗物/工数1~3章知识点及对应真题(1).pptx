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99" r:id="rId3"/>
    <p:sldId id="300" r:id="rId4"/>
    <p:sldId id="290" r:id="rId5"/>
    <p:sldId id="292" r:id="rId6"/>
    <p:sldId id="293" r:id="rId7"/>
    <p:sldId id="294" r:id="rId8"/>
    <p:sldId id="295" r:id="rId9"/>
    <p:sldId id="291" r:id="rId10"/>
    <p:sldId id="296" r:id="rId11"/>
    <p:sldId id="318" r:id="rId12"/>
    <p:sldId id="316" r:id="rId13"/>
    <p:sldId id="297" r:id="rId14"/>
    <p:sldId id="301" r:id="rId15"/>
    <p:sldId id="302" r:id="rId16"/>
    <p:sldId id="303" r:id="rId17"/>
    <p:sldId id="304" r:id="rId18"/>
    <p:sldId id="305" r:id="rId19"/>
    <p:sldId id="307" r:id="rId20"/>
    <p:sldId id="308" r:id="rId21"/>
    <p:sldId id="309" r:id="rId22"/>
    <p:sldId id="310" r:id="rId24"/>
    <p:sldId id="317" r:id="rId25"/>
    <p:sldId id="312" r:id="rId26"/>
  </p:sldIdLst>
  <p:sldSz cx="12192000" cy="6858000"/>
  <p:notesSz cx="12192000" cy="6858000"/>
  <p:custDataLst>
    <p:tags r:id="rId30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A2D0"/>
    <a:srgbClr val="B8D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213" y="-309"/>
      </p:cViewPr>
      <p:guideLst>
        <p:guide orient="horz" pos="2880"/>
        <p:guide pos="21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89107-6BAC-44A9-AF83-BF31F4B0D0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93391-7616-41D1-8F90-B1E8B1D7B5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幼圆" panose="02010509060101010101" charset="-122"/>
                <a:cs typeface="幼圆" panose="020105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D0D0D"/>
                </a:solidFill>
                <a:latin typeface="幼圆" panose="02010509060101010101" charset="-122"/>
                <a:cs typeface="幼圆" panose="020105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幼圆" panose="02010509060101010101" charset="-122"/>
                <a:cs typeface="幼圆" panose="020105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D0D0D"/>
                </a:solidFill>
                <a:latin typeface="幼圆" panose="02010509060101010101" charset="-122"/>
                <a:cs typeface="幼圆" panose="020105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幼圆" panose="02010509060101010101" charset="-122"/>
                <a:cs typeface="幼圆" panose="020105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幼圆" panose="02010509060101010101" charset="-122"/>
                <a:cs typeface="幼圆" panose="020105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84988" y="36118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0" y="496062"/>
                </a:moveTo>
                <a:lnTo>
                  <a:pt x="2270" y="448292"/>
                </a:lnTo>
                <a:lnTo>
                  <a:pt x="8944" y="401806"/>
                </a:lnTo>
                <a:lnTo>
                  <a:pt x="19814" y="356812"/>
                </a:lnTo>
                <a:lnTo>
                  <a:pt x="34670" y="313517"/>
                </a:lnTo>
                <a:lnTo>
                  <a:pt x="53306" y="272131"/>
                </a:lnTo>
                <a:lnTo>
                  <a:pt x="75514" y="232860"/>
                </a:lnTo>
                <a:lnTo>
                  <a:pt x="101085" y="195912"/>
                </a:lnTo>
                <a:lnTo>
                  <a:pt x="129812" y="161497"/>
                </a:lnTo>
                <a:lnTo>
                  <a:pt x="161487" y="129821"/>
                </a:lnTo>
                <a:lnTo>
                  <a:pt x="195902" y="101093"/>
                </a:lnTo>
                <a:lnTo>
                  <a:pt x="232848" y="75520"/>
                </a:lnTo>
                <a:lnTo>
                  <a:pt x="272120" y="53311"/>
                </a:lnTo>
                <a:lnTo>
                  <a:pt x="313507" y="34673"/>
                </a:lnTo>
                <a:lnTo>
                  <a:pt x="356803" y="19816"/>
                </a:lnTo>
                <a:lnTo>
                  <a:pt x="401799" y="8945"/>
                </a:lnTo>
                <a:lnTo>
                  <a:pt x="448288" y="2271"/>
                </a:lnTo>
                <a:lnTo>
                  <a:pt x="496062" y="0"/>
                </a:lnTo>
                <a:lnTo>
                  <a:pt x="543835" y="2271"/>
                </a:lnTo>
                <a:lnTo>
                  <a:pt x="590324" y="8945"/>
                </a:lnTo>
                <a:lnTo>
                  <a:pt x="635320" y="19816"/>
                </a:lnTo>
                <a:lnTo>
                  <a:pt x="678616" y="34673"/>
                </a:lnTo>
                <a:lnTo>
                  <a:pt x="720003" y="53311"/>
                </a:lnTo>
                <a:lnTo>
                  <a:pt x="759275" y="75520"/>
                </a:lnTo>
                <a:lnTo>
                  <a:pt x="796221" y="101093"/>
                </a:lnTo>
                <a:lnTo>
                  <a:pt x="830636" y="129821"/>
                </a:lnTo>
                <a:lnTo>
                  <a:pt x="862311" y="161497"/>
                </a:lnTo>
                <a:lnTo>
                  <a:pt x="891038" y="195912"/>
                </a:lnTo>
                <a:lnTo>
                  <a:pt x="916609" y="232860"/>
                </a:lnTo>
                <a:lnTo>
                  <a:pt x="938817" y="272131"/>
                </a:lnTo>
                <a:lnTo>
                  <a:pt x="957453" y="313517"/>
                </a:lnTo>
                <a:lnTo>
                  <a:pt x="972309" y="356812"/>
                </a:lnTo>
                <a:lnTo>
                  <a:pt x="983179" y="401806"/>
                </a:lnTo>
                <a:lnTo>
                  <a:pt x="989853" y="448292"/>
                </a:lnTo>
                <a:lnTo>
                  <a:pt x="992124" y="496062"/>
                </a:lnTo>
                <a:lnTo>
                  <a:pt x="989853" y="543831"/>
                </a:lnTo>
                <a:lnTo>
                  <a:pt x="983179" y="590317"/>
                </a:lnTo>
                <a:lnTo>
                  <a:pt x="972309" y="635311"/>
                </a:lnTo>
                <a:lnTo>
                  <a:pt x="957453" y="678606"/>
                </a:lnTo>
                <a:lnTo>
                  <a:pt x="938817" y="719992"/>
                </a:lnTo>
                <a:lnTo>
                  <a:pt x="916609" y="759263"/>
                </a:lnTo>
                <a:lnTo>
                  <a:pt x="891038" y="796211"/>
                </a:lnTo>
                <a:lnTo>
                  <a:pt x="862311" y="830626"/>
                </a:lnTo>
                <a:lnTo>
                  <a:pt x="830636" y="862302"/>
                </a:lnTo>
                <a:lnTo>
                  <a:pt x="796221" y="891030"/>
                </a:lnTo>
                <a:lnTo>
                  <a:pt x="759275" y="916603"/>
                </a:lnTo>
                <a:lnTo>
                  <a:pt x="720003" y="938812"/>
                </a:lnTo>
                <a:lnTo>
                  <a:pt x="678616" y="957450"/>
                </a:lnTo>
                <a:lnTo>
                  <a:pt x="635320" y="972307"/>
                </a:lnTo>
                <a:lnTo>
                  <a:pt x="590324" y="983178"/>
                </a:lnTo>
                <a:lnTo>
                  <a:pt x="543835" y="989852"/>
                </a:lnTo>
                <a:lnTo>
                  <a:pt x="496062" y="992124"/>
                </a:lnTo>
                <a:lnTo>
                  <a:pt x="448288" y="989852"/>
                </a:lnTo>
                <a:lnTo>
                  <a:pt x="401799" y="983178"/>
                </a:lnTo>
                <a:lnTo>
                  <a:pt x="356803" y="972307"/>
                </a:lnTo>
                <a:lnTo>
                  <a:pt x="313507" y="957450"/>
                </a:lnTo>
                <a:lnTo>
                  <a:pt x="272120" y="938812"/>
                </a:lnTo>
                <a:lnTo>
                  <a:pt x="232848" y="916603"/>
                </a:lnTo>
                <a:lnTo>
                  <a:pt x="195902" y="891030"/>
                </a:lnTo>
                <a:lnTo>
                  <a:pt x="161487" y="862302"/>
                </a:lnTo>
                <a:lnTo>
                  <a:pt x="129812" y="830626"/>
                </a:lnTo>
                <a:lnTo>
                  <a:pt x="101085" y="796211"/>
                </a:lnTo>
                <a:lnTo>
                  <a:pt x="75514" y="759263"/>
                </a:lnTo>
                <a:lnTo>
                  <a:pt x="53306" y="719992"/>
                </a:lnTo>
                <a:lnTo>
                  <a:pt x="34670" y="678606"/>
                </a:lnTo>
                <a:lnTo>
                  <a:pt x="19814" y="635311"/>
                </a:lnTo>
                <a:lnTo>
                  <a:pt x="8944" y="590317"/>
                </a:lnTo>
                <a:lnTo>
                  <a:pt x="2270" y="543831"/>
                </a:lnTo>
                <a:lnTo>
                  <a:pt x="0" y="496062"/>
                </a:lnTo>
                <a:close/>
              </a:path>
            </a:pathLst>
          </a:custGeom>
          <a:ln w="12700">
            <a:solidFill>
              <a:srgbClr val="1C1C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08432" y="672084"/>
            <a:ext cx="1569720" cy="370840"/>
          </a:xfrm>
          <a:custGeom>
            <a:avLst/>
            <a:gdLst/>
            <a:ahLst/>
            <a:cxnLst/>
            <a:rect l="l" t="t" r="r" b="b"/>
            <a:pathLst>
              <a:path w="1569720" h="370840">
                <a:moveTo>
                  <a:pt x="1569720" y="0"/>
                </a:moveTo>
                <a:lnTo>
                  <a:pt x="0" y="0"/>
                </a:lnTo>
                <a:lnTo>
                  <a:pt x="0" y="370332"/>
                </a:lnTo>
                <a:lnTo>
                  <a:pt x="1569720" y="370332"/>
                </a:lnTo>
                <a:lnTo>
                  <a:pt x="1569720" y="0"/>
                </a:lnTo>
                <a:close/>
              </a:path>
            </a:pathLst>
          </a:custGeom>
          <a:solidFill>
            <a:srgbClr val="EE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6562" y="713613"/>
            <a:ext cx="1397000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幼圆" panose="02010509060101010101" charset="-122"/>
                <a:cs typeface="幼圆" panose="020105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56223" y="2715005"/>
            <a:ext cx="5212715" cy="2220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D0D0D"/>
                </a:solidFill>
                <a:latin typeface="幼圆" panose="02010509060101010101" charset="-122"/>
                <a:cs typeface="幼圆" panose="020105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6447" y="3189730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5" dirty="0">
                <a:solidFill>
                  <a:srgbClr val="0D0D0D"/>
                </a:solidFill>
                <a:latin typeface="幼圆" panose="02010509060101010101" charset="-122"/>
                <a:cs typeface="幼圆" panose="02010509060101010101" charset="-122"/>
              </a:rPr>
              <a:t>集合与函数</a:t>
            </a:r>
            <a:endParaRPr sz="4400" dirty="0">
              <a:latin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800" dirty="0">
                <a:latin typeface="幼圆" panose="02010509060101010101" charset="-122"/>
                <a:cs typeface="幼圆" panose="02010509060101010101" charset="-122"/>
              </a:rPr>
              <a:t>一</a:t>
            </a:r>
            <a:endParaRPr sz="4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540586"/>
            <a:ext cx="5629555" cy="2462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4973" y="3196080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5" dirty="0">
                <a:solidFill>
                  <a:srgbClr val="0D0D0D"/>
                </a:solidFill>
                <a:latin typeface="幼圆" panose="02010509060101010101" charset="-122"/>
                <a:cs typeface="幼圆" panose="02010509060101010101" charset="-122"/>
              </a:rPr>
              <a:t>极限与连续</a:t>
            </a:r>
            <a:endParaRPr sz="4400" dirty="0">
              <a:latin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800" dirty="0"/>
              <a:t>二</a:t>
            </a:r>
            <a:endParaRPr sz="4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06" y="1653795"/>
            <a:ext cx="3760446" cy="3976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极限与连续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1219200"/>
            <a:ext cx="7936954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极限与连续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040726"/>
            <a:ext cx="6512667" cy="25312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极限与连续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466" y="1295400"/>
            <a:ext cx="5181600" cy="4198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极限与连续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81244"/>
            <a:ext cx="3897507" cy="219075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381244"/>
            <a:ext cx="4735910" cy="2128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极限与连续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8121" y="1828800"/>
            <a:ext cx="8235758" cy="2969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极限与连续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927" y="1219200"/>
            <a:ext cx="7581955" cy="85249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209800"/>
            <a:ext cx="6686599" cy="12906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500447"/>
            <a:ext cx="6781800" cy="16696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5148575"/>
            <a:ext cx="6579448" cy="1099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极限与连续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1219200"/>
            <a:ext cx="3962400" cy="19732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581400"/>
            <a:ext cx="7593702" cy="236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极限与连续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1752600"/>
            <a:ext cx="801429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45" y="3272993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5" dirty="0">
                <a:solidFill>
                  <a:srgbClr val="0D0D0D"/>
                </a:solidFill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4400" dirty="0">
              <a:latin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800" dirty="0">
                <a:latin typeface="幼圆" panose="02010509060101010101" charset="-122"/>
                <a:cs typeface="幼圆" panose="02010509060101010101" charset="-122"/>
              </a:rPr>
              <a:t>三</a:t>
            </a:r>
            <a:endParaRPr sz="4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440" y="1920436"/>
            <a:ext cx="4905411" cy="33956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7459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371600"/>
            <a:ext cx="619916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3694" y="685800"/>
            <a:ext cx="170090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600200"/>
            <a:ext cx="5639134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7459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95400"/>
            <a:ext cx="3514751" cy="11811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819400"/>
            <a:ext cx="4800600" cy="3956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22031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1905000"/>
            <a:ext cx="6348459" cy="2076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6697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2057400"/>
            <a:ext cx="5578028" cy="30146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8221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295400"/>
            <a:ext cx="7287101" cy="1981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962400"/>
            <a:ext cx="9642415" cy="20496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8983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259" y="1295400"/>
            <a:ext cx="6988582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60131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泰勒公式     微分研究之巅    常用于函数性质研究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066800"/>
            <a:ext cx="7361041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005" y="1981200"/>
            <a:ext cx="6462230" cy="23955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b="81589"/>
          <a:stretch>
            <a:fillRect/>
          </a:stretch>
        </p:blipFill>
        <p:spPr>
          <a:xfrm>
            <a:off x="2964005" y="4376744"/>
            <a:ext cx="6462230" cy="80485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/>
          <a:srcRect t="70612"/>
          <a:stretch>
            <a:fillRect/>
          </a:stretch>
        </p:blipFill>
        <p:spPr>
          <a:xfrm>
            <a:off x="2964005" y="5181600"/>
            <a:ext cx="6516007" cy="1295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4856567"/>
            <a:ext cx="4508380" cy="8691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20507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69284" y="1219200"/>
            <a:ext cx="78534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一般步骤：求定义域-求一阶导数-求二阶导数-令一、二阶导数为0-列表-答题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2338" y="1588532"/>
            <a:ext cx="4967324" cy="45672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391" y="5567866"/>
            <a:ext cx="4600609" cy="957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1"/>
            <a:ext cx="28127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spc="-10" dirty="0">
                <a:latin typeface="幼圆" panose="02010509060101010101" charset="-122"/>
                <a:cs typeface="幼圆" panose="02010509060101010101" charset="-122"/>
              </a:rPr>
              <a:t>一元函数微分学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28800" y="1295400"/>
            <a:ext cx="944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D0B22"/>
                </a:solidFill>
                <a:latin typeface="微软雅黑" panose="020B0503020204020204" charset="-122"/>
                <a:ea typeface="微软雅黑" panose="020B0503020204020204" charset="-122"/>
              </a:rPr>
              <a:t>一般步骤：</a:t>
            </a:r>
            <a:r>
              <a:rPr lang="zh-CN" altLang="en-US" i="0" dirty="0">
                <a:solidFill>
                  <a:srgbClr val="0D0B2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列关系式</a:t>
            </a:r>
            <a:r>
              <a:rPr lang="en-US" altLang="zh-CN" i="0" dirty="0">
                <a:solidFill>
                  <a:srgbClr val="0D0B2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i="0" dirty="0">
                <a:solidFill>
                  <a:srgbClr val="0D0B2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求导</a:t>
            </a:r>
            <a:r>
              <a:rPr lang="en-US" altLang="zh-CN" i="0" dirty="0">
                <a:solidFill>
                  <a:srgbClr val="0D0B2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i="0" dirty="0">
                <a:solidFill>
                  <a:srgbClr val="0D0B2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求极值点</a:t>
            </a:r>
            <a:r>
              <a:rPr lang="en-US" altLang="zh-CN" i="0" dirty="0">
                <a:solidFill>
                  <a:srgbClr val="0D0B2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-“</a:t>
            </a:r>
            <a:r>
              <a:rPr lang="zh-CN" altLang="en-US" i="0" dirty="0">
                <a:solidFill>
                  <a:srgbClr val="0D0B2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又 根 据 实 际 意 义 ， 所 求 的 最 值 存 在 ”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399" y="1646588"/>
            <a:ext cx="6235301" cy="39160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200" y="3289074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5" dirty="0">
                <a:solidFill>
                  <a:srgbClr val="0D0D0D"/>
                </a:solidFill>
                <a:latin typeface="幼圆" panose="02010509060101010101" charset="-122"/>
                <a:cs typeface="幼圆" panose="02010509060101010101" charset="-122"/>
              </a:rPr>
              <a:t>真题感悟</a:t>
            </a:r>
            <a:endParaRPr sz="4400" dirty="0">
              <a:latin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800" dirty="0">
                <a:latin typeface="幼圆" panose="02010509060101010101" charset="-122"/>
                <a:cs typeface="幼圆" panose="02010509060101010101" charset="-122"/>
              </a:rPr>
              <a:t>三</a:t>
            </a:r>
            <a:endParaRPr sz="4800" dirty="0">
              <a:latin typeface="幼圆" panose="02010509060101010101" charset="-122"/>
              <a:cs typeface="幼圆" panose="0201050906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466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>
                <a:latin typeface="幼圆" panose="02010509060101010101" charset="-122"/>
                <a:cs typeface="幼圆" panose="02010509060101010101" charset="-122"/>
              </a:rPr>
              <a:t>集合与函数</a:t>
            </a:r>
            <a:endParaRPr sz="1800" dirty="0">
              <a:latin typeface="幼圆" panose="02010509060101010101" charset="-122"/>
              <a:cs typeface="幼圆" panose="020105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28800"/>
            <a:ext cx="11035217" cy="4191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k4MmYyYjAyMDA5MWYwMDc3M2Q2ZjRlMTg3ZjMwZm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7E6E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WPS 演示</Application>
  <PresentationFormat>宽屏</PresentationFormat>
  <Paragraphs>58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幼圆</vt:lpstr>
      <vt:lpstr>Times New Roman</vt:lpstr>
      <vt:lpstr>Calibri</vt:lpstr>
      <vt:lpstr>等线</vt:lpstr>
      <vt:lpstr>微软雅黑</vt:lpstr>
      <vt:lpstr>-apple-system</vt:lpstr>
      <vt:lpstr>Segoe Print</vt:lpstr>
      <vt:lpstr>Arial Unicode MS</vt:lpstr>
      <vt:lpstr>Office Theme</vt:lpstr>
      <vt:lpstr>一</vt:lpstr>
      <vt:lpstr>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学业互助辅学课堂 ——工科数学分析</dc:title>
  <dc:creator/>
  <cp:lastModifiedBy>WPS_1648808624</cp:lastModifiedBy>
  <cp:revision>11</cp:revision>
  <dcterms:created xsi:type="dcterms:W3CDTF">2023-11-19T03:24:00Z</dcterms:created>
  <dcterms:modified xsi:type="dcterms:W3CDTF">2023-12-18T07:48:53Z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2023-11-19T16:00:00Z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2023-11-19T16:00:00Z</vt:filetime>
  </property>
  <property fmtid="{D5CDD505-2E9C-101B-9397-08002B2CF9AE}" pid="5" name="Producer">
    <vt:lpwstr>Microsoft® PowerPoint® 2021</vt:lpwstr>
  </property>
  <property fmtid="{D5CDD505-2E9C-101B-9397-08002B2CF9AE}" pid="6" name="ICV">
    <vt:lpwstr>8C9247F57B8A4934B3708F0389D29A7B_13</vt:lpwstr>
  </property>
  <property fmtid="{D5CDD505-2E9C-101B-9397-08002B2CF9AE}" pid="7" name="KSOProductBuildVer">
    <vt:lpwstr>2052-12.1.0.15990</vt:lpwstr>
  </property>
</Properties>
</file>